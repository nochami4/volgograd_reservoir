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Анализ точности прогнозирования</a:t>
            </a:r>
          </a:p>
          <a:p>
            <a:r>
              <a:t>береговой эрозии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Статистика ошибок модели MLP</a:t>
            </a:r>
          </a:p>
          <a:p>
            <a:r>
              <a:t>28.11.2025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Общая информация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Arial"/>
              </a:defRPr>
            </a:pPr>
          </a:p>
          <a:p>
            <a:pPr>
              <a:defRPr sz="1400">
                <a:latin typeface="Arial"/>
              </a:defRPr>
            </a:pPr>
            <a:r>
              <a:t>    📊 ОБЗОР ДАННЫХ:</a:t>
            </a:r>
          </a:p>
          <a:p>
            <a:pPr>
              <a:defRPr sz="1400">
                <a:latin typeface="Arial"/>
              </a:defRPr>
            </a:pPr>
            <a:r>
              <a:t>    </a:t>
            </a:r>
          </a:p>
          <a:p>
            <a:pPr>
              <a:defRPr sz="1400">
                <a:latin typeface="Arial"/>
              </a:defRPr>
            </a:pPr>
            <a:r>
              <a:t>    • Количество участков: 11</a:t>
            </a:r>
          </a:p>
          <a:p>
            <a:pPr>
              <a:defRPr sz="1400">
                <a:latin typeface="Arial"/>
              </a:defRPr>
            </a:pPr>
            <a:r>
              <a:t>    • Общее количество наблюдений: 622</a:t>
            </a:r>
          </a:p>
          <a:p>
            <a:pPr>
              <a:defRPr sz="1400">
                <a:latin typeface="Arial"/>
              </a:defRPr>
            </a:pPr>
            <a:r>
              <a:t>    • Средняя абсолютная ошибка: 10.32 м</a:t>
            </a:r>
          </a:p>
          <a:p>
            <a:pPr>
              <a:defRPr sz="1400">
                <a:latin typeface="Arial"/>
              </a:defRPr>
            </a:pPr>
            <a:r>
              <a:t>    • Период анализа: 28.11.2025</a:t>
            </a:r>
          </a:p>
          <a:p>
            <a:pPr>
              <a:defRPr sz="1400">
                <a:latin typeface="Arial"/>
              </a:defRPr>
            </a:pPr>
            <a:r>
              <a:t>    </a:t>
            </a:r>
          </a:p>
          <a:p>
            <a:pPr>
              <a:defRPr sz="1400">
                <a:latin typeface="Arial"/>
              </a:defRPr>
            </a:pPr>
            <a:r>
              <a:t>    🎯 МЕТОДОЛОГИЯ:</a:t>
            </a:r>
          </a:p>
          <a:p>
            <a:pPr>
              <a:defRPr sz="1400">
                <a:latin typeface="Arial"/>
              </a:defRPr>
            </a:pPr>
            <a:r>
              <a:t>    </a:t>
            </a:r>
          </a:p>
          <a:p>
            <a:pPr>
              <a:defRPr sz="1400">
                <a:latin typeface="Arial"/>
              </a:defRPr>
            </a:pPr>
            <a:r>
              <a:t>    • Модель: MLP (многослойный перцептрон)</a:t>
            </a:r>
          </a:p>
          <a:p>
            <a:pPr>
              <a:defRPr sz="1400">
                <a:latin typeface="Arial"/>
              </a:defRPr>
            </a:pPr>
            <a:r>
              <a:t>    • Целевая переменная: Расстояние до ПН</a:t>
            </a:r>
          </a:p>
          <a:p>
            <a:pPr>
              <a:defRPr sz="1400">
                <a:latin typeface="Arial"/>
              </a:defRPr>
            </a:pPr>
            <a:r>
              <a:t>    • Признаки: Год, Участок, Профиль, Литология</a:t>
            </a:r>
          </a:p>
          <a:p>
            <a:pPr>
              <a:defRPr sz="1400">
                <a:latin typeface="Arial"/>
              </a:defRPr>
            </a:pPr>
            <a:r>
              <a:t>    • Горизонт прогнозирования: 20 лет</a:t>
            </a:r>
          </a:p>
          <a:p>
            <a:pPr>
              <a:defRPr sz="1400">
                <a:latin typeface="Arial"/>
              </a:defRPr>
            </a:pPr>
            <a:r>
              <a:t>    </a:t>
            </a:r>
          </a:p>
          <a:p>
            <a:pPr>
              <a:defRPr sz="1400">
                <a:latin typeface="Arial"/>
              </a:defRPr>
            </a:pPr>
            <a:r>
              <a:t>    📈 КРИТЕРИИ ОЦЕНКИ:</a:t>
            </a:r>
          </a:p>
          <a:p>
            <a:pPr>
              <a:defRPr sz="1400">
                <a:latin typeface="Arial"/>
              </a:defRPr>
            </a:pPr>
            <a:r>
              <a:t>    </a:t>
            </a:r>
          </a:p>
          <a:p>
            <a:pPr>
              <a:defRPr sz="1400">
                <a:latin typeface="Arial"/>
              </a:defRPr>
            </a:pPr>
            <a:r>
              <a:t>    • Высокая точность: &lt; 5 м</a:t>
            </a:r>
          </a:p>
          <a:p>
            <a:pPr>
              <a:defRPr sz="1400">
                <a:latin typeface="Arial"/>
              </a:defRPr>
            </a:pPr>
            <a:r>
              <a:t>    • Средняя точность: 5-10 м  </a:t>
            </a:r>
          </a:p>
          <a:p>
            <a:pPr>
              <a:defRPr sz="1400">
                <a:latin typeface="Arial"/>
              </a:defRPr>
            </a:pPr>
            <a:r>
              <a:t>    • Низкая точность: ≥ 10 м</a:t>
            </a:r>
          </a:p>
          <a:p>
            <a:pPr>
              <a:defRPr sz="1400">
                <a:latin typeface="Arial"/>
              </a:defRPr>
            </a:pPr>
            <a:r>
              <a:t>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8"/>
                </a:solidFill>
              </a:defRPr>
            </a:pPr>
            <a:r>
              <a:t>Статистика ошибок по участкам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Участок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Средняя</a:t>
                      </a:r>
                    </a:p>
                    <a:p>
                      <a:r>
                        <a:t>ошибка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Стд</a:t>
                      </a:r>
                    </a:p>
                    <a:p>
                      <a:r>
                        <a:t>ошибки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Мин</a:t>
                      </a:r>
                    </a:p>
                    <a:p>
                      <a:r>
                        <a:t>ошибка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Макс</a:t>
                      </a:r>
                    </a:p>
                    <a:p>
                      <a:r>
                        <a:t>ошибка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Средняя</a:t>
                      </a:r>
                    </a:p>
                    <a:p>
                      <a:r>
                        <a:t>абс. ошибка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Наблюдения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Бережновка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18.79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-38.30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75.75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0000"/>
                          </a:solidFill>
                        </a:defRPr>
                      </a:pPr>
                      <a:r>
                        <a:t>14.54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71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Бурты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3.79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-8.30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6.88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000"/>
                          </a:solidFill>
                        </a:defRPr>
                      </a:pPr>
                      <a:r>
                        <a:t>3.11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Лист1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59.33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-98.34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0000"/>
                          </a:solidFill>
                        </a:defRPr>
                      </a:pPr>
                      <a:r>
                        <a:t>42.69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Молчановка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7.01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-18.77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9.83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A500"/>
                          </a:solidFill>
                        </a:defRPr>
                      </a:pPr>
                      <a:r>
                        <a:t>5.75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Нижний Балыклей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-15.07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21.86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A500"/>
                          </a:solidFill>
                        </a:defRPr>
                      </a:pPr>
                      <a:r>
                        <a:t>8.02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68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Нижний Ураков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0.64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4.40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-9.35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10.06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000"/>
                          </a:solidFill>
                        </a:defRPr>
                      </a:pPr>
                      <a:r>
                        <a:t>3.47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Новоникольское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-1.76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26.44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-37.32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79.22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0000"/>
                          </a:solidFill>
                        </a:defRPr>
                      </a:pPr>
                      <a:r>
                        <a:t>21.08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56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Пичуга-Южный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1.43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5.94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-11.91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13.90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000"/>
                          </a:solidFill>
                        </a:defRPr>
                      </a:pPr>
                      <a:r>
                        <a:t>4.23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Пролейский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-12.00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000"/>
                          </a:solidFill>
                        </a:defRPr>
                      </a:pPr>
                      <a:r>
                        <a:t>4.47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68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Суводская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2.44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-7.48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3.27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000"/>
                          </a:solidFill>
                        </a:defRPr>
                      </a:pPr>
                      <a:r>
                        <a:t>1.37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Ураков Бугор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-20.77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13.20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000"/>
                          </a:solidFill>
                        </a:defRPr>
                      </a:pPr>
                      <a:r>
                        <a:t>4.75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8"/>
                </a:solidFill>
              </a:defRPr>
            </a:pPr>
            <a:r>
              <a:t>Визуализация точности прогнозирования</a:t>
            </a:r>
          </a:p>
        </p:txBody>
      </p:sp>
      <p:pic>
        <p:nvPicPr>
          <p:cNvPr id="3" name="Picture 2" descr="temp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8"/>
                </a:solidFill>
              </a:defRPr>
            </a:pPr>
            <a:r>
              <a:t>Детальный анализ результатов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Arial"/>
              </a:defRPr>
            </a:pPr>
          </a:p>
          <a:p>
            <a:pPr>
              <a:defRPr sz="1400">
                <a:latin typeface="Arial"/>
              </a:defRPr>
            </a:pPr>
            <a:r>
              <a:t>    🏆 ЛУЧШИЕ РЕЗУЛЬТАТЫ:</a:t>
            </a:r>
          </a:p>
          <a:p>
            <a:pPr>
              <a:defRPr sz="1400">
                <a:latin typeface="Arial"/>
              </a:defRPr>
            </a:pPr>
            <a:r>
              <a:t>    </a:t>
            </a:r>
          </a:p>
          <a:p>
            <a:pPr>
              <a:defRPr sz="1400">
                <a:latin typeface="Arial"/>
              </a:defRPr>
            </a:pPr>
            <a:r>
              <a:t>    • Участок: Суводская</a:t>
            </a:r>
          </a:p>
          <a:p>
            <a:pPr>
              <a:defRPr sz="1400">
                <a:latin typeface="Arial"/>
              </a:defRPr>
            </a:pPr>
            <a:r>
              <a:t>    • Средняя абсолютная ошибка: 1.37 м</a:t>
            </a:r>
          </a:p>
          <a:p>
            <a:pPr>
              <a:defRPr sz="1400">
                <a:latin typeface="Arial"/>
              </a:defRPr>
            </a:pPr>
            <a:r>
              <a:t>    • Количество наблюдений: 14</a:t>
            </a:r>
          </a:p>
          <a:p>
            <a:pPr>
              <a:defRPr sz="1400">
                <a:latin typeface="Arial"/>
              </a:defRPr>
            </a:pPr>
            <a:r>
              <a:t>    • Стандартное отклонение: 2.44 м</a:t>
            </a:r>
          </a:p>
          <a:p>
            <a:pPr>
              <a:defRPr sz="1400">
                <a:latin typeface="Arial"/>
              </a:defRPr>
            </a:pPr>
            <a:r>
              <a:t>    </a:t>
            </a:r>
          </a:p>
          <a:p>
            <a:pPr>
              <a:defRPr sz="1400">
                <a:latin typeface="Arial"/>
              </a:defRPr>
            </a:pPr>
            <a:r>
              <a:t>    ⚠️ НАИБОЛЕЕ ПРОБЛЕМНЫЕ УЧАСТКИ:</a:t>
            </a:r>
          </a:p>
          <a:p>
            <a:pPr>
              <a:defRPr sz="1400">
                <a:latin typeface="Arial"/>
              </a:defRPr>
            </a:pPr>
            <a:r>
              <a:t>    </a:t>
            </a:r>
          </a:p>
          <a:p>
            <a:pPr>
              <a:defRPr sz="1400">
                <a:latin typeface="Arial"/>
              </a:defRPr>
            </a:pPr>
            <a:r>
              <a:t>    • Участок: Лист1</a:t>
            </a:r>
          </a:p>
          <a:p>
            <a:pPr>
              <a:defRPr sz="1400">
                <a:latin typeface="Arial"/>
              </a:defRPr>
            </a:pPr>
            <a:r>
              <a:t>    • Средняя абсолютная ошибка: 42.69 м  </a:t>
            </a:r>
          </a:p>
          <a:p>
            <a:pPr>
              <a:defRPr sz="1400">
                <a:latin typeface="Arial"/>
              </a:defRPr>
            </a:pPr>
            <a:r>
              <a:t>    • Количество наблюдений: 8</a:t>
            </a:r>
          </a:p>
          <a:p>
            <a:pPr>
              <a:defRPr sz="1400">
                <a:latin typeface="Arial"/>
              </a:defRPr>
            </a:pPr>
            <a:r>
              <a:t>    • Стандартное отклонение: 59.33 м</a:t>
            </a:r>
          </a:p>
          <a:p>
            <a:pPr>
              <a:defRPr sz="1400">
                <a:latin typeface="Arial"/>
              </a:defRPr>
            </a:pPr>
            <a:r>
              <a:t>    </a:t>
            </a:r>
          </a:p>
          <a:p>
            <a:pPr>
              <a:defRPr sz="1400">
                <a:latin typeface="Arial"/>
              </a:defRPr>
            </a:pPr>
            <a:r>
              <a:t>    📋 РЕКОМЕНДАЦИИ:</a:t>
            </a:r>
          </a:p>
          <a:p>
            <a:pPr>
              <a:defRPr sz="1400">
                <a:latin typeface="Arial"/>
              </a:defRPr>
            </a:pPr>
            <a:r>
              <a:t>    </a:t>
            </a:r>
          </a:p>
          <a:p>
            <a:pPr>
              <a:defRPr sz="1400">
                <a:latin typeface="Arial"/>
              </a:defRPr>
            </a:pPr>
            <a:r>
              <a:t>    • Увеличить сбор данных для участков с низкой точностью</a:t>
            </a:r>
          </a:p>
          <a:p>
            <a:pPr>
              <a:defRPr sz="1400">
                <a:latin typeface="Arial"/>
              </a:defRPr>
            </a:pPr>
            <a:r>
              <a:t>    • Проверить качество данных проблемных участков</a:t>
            </a:r>
          </a:p>
          <a:p>
            <a:pPr>
              <a:defRPr sz="1400">
                <a:latin typeface="Arial"/>
              </a:defRPr>
            </a:pPr>
            <a:r>
              <a:t>    • Рассмотреть дополнительные факторы для сложных участков</a:t>
            </a:r>
          </a:p>
          <a:p>
            <a:pPr>
              <a:defRPr sz="1400">
                <a:latin typeface="Arial"/>
              </a:defRPr>
            </a:pPr>
            <a:r>
              <a:t>    • Использовать участки с высокой точностью для калибровки модели</a:t>
            </a:r>
          </a:p>
          <a:p>
            <a:pPr>
              <a:defRPr sz="1400">
                <a:latin typeface="Arial"/>
              </a:defRPr>
            </a:pPr>
            <a:r>
              <a:t>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Выводы и заключение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Arial"/>
              </a:defRPr>
            </a:pPr>
          </a:p>
          <a:p>
            <a:pPr>
              <a:defRPr sz="1400">
                <a:latin typeface="Arial"/>
              </a:defRPr>
            </a:pPr>
            <a:r>
              <a:t>    📊 ОСНОВНЫЕ ВЫВОДЫ:</a:t>
            </a:r>
          </a:p>
          <a:p>
            <a:pPr>
              <a:defRPr sz="1400">
                <a:latin typeface="Arial"/>
              </a:defRPr>
            </a:pPr>
            <a:r>
              <a:t>    </a:t>
            </a:r>
          </a:p>
          <a:p>
            <a:pPr>
              <a:defRPr sz="1400">
                <a:latin typeface="Arial"/>
              </a:defRPr>
            </a:pPr>
            <a:r>
              <a:t>    • Модель демонстрирует хорошую точность для 6 из 11 участков</a:t>
            </a:r>
          </a:p>
          <a:p>
            <a:pPr>
              <a:defRPr sz="1400">
                <a:latin typeface="Arial"/>
              </a:defRPr>
            </a:pPr>
            <a:r>
              <a:t>    • Средняя точность достигнута для 2 участков</a:t>
            </a:r>
          </a:p>
          <a:p>
            <a:pPr>
              <a:defRPr sz="1400">
                <a:latin typeface="Arial"/>
              </a:defRPr>
            </a:pPr>
            <a:r>
              <a:t>    • Требуют внимания 3 участков с низкой точностью</a:t>
            </a:r>
          </a:p>
          <a:p>
            <a:pPr>
              <a:defRPr sz="1400">
                <a:latin typeface="Arial"/>
              </a:defRPr>
            </a:pPr>
            <a:r>
              <a:t>    </a:t>
            </a:r>
          </a:p>
          <a:p>
            <a:pPr>
              <a:defRPr sz="1400">
                <a:latin typeface="Arial"/>
              </a:defRPr>
            </a:pPr>
            <a:r>
              <a:t>    🎯 ПЕРСПЕКТИВЫ РАЗВИТИЯ:</a:t>
            </a:r>
          </a:p>
          <a:p>
            <a:pPr>
              <a:defRPr sz="1400">
                <a:latin typeface="Arial"/>
              </a:defRPr>
            </a:pPr>
            <a:r>
              <a:t>    </a:t>
            </a:r>
          </a:p>
          <a:p>
            <a:pPr>
              <a:defRPr sz="1400">
                <a:latin typeface="Arial"/>
              </a:defRPr>
            </a:pPr>
            <a:r>
              <a:t>    • Оптимизация гиперпараметров модели</a:t>
            </a:r>
          </a:p>
          <a:p>
            <a:pPr>
              <a:defRPr sz="1400">
                <a:latin typeface="Arial"/>
              </a:defRPr>
            </a:pPr>
            <a:r>
              <a:t>    • Включение дополнительных признаков</a:t>
            </a:r>
          </a:p>
          <a:p>
            <a:pPr>
              <a:defRPr sz="1400">
                <a:latin typeface="Arial"/>
              </a:defRPr>
            </a:pPr>
            <a:r>
              <a:t>    • Увеличение объема обучающих данных</a:t>
            </a:r>
          </a:p>
          <a:p>
            <a:pPr>
              <a:defRPr sz="1400">
                <a:latin typeface="Arial"/>
              </a:defRPr>
            </a:pPr>
            <a:r>
              <a:t>    • Внедрение ансамблевых методов</a:t>
            </a:r>
          </a:p>
          <a:p>
            <a:pPr>
              <a:defRPr sz="1400">
                <a:latin typeface="Arial"/>
              </a:defRPr>
            </a:pPr>
            <a:r>
              <a:t>    </a:t>
            </a:r>
          </a:p>
          <a:p>
            <a:pPr>
              <a:defRPr sz="1400">
                <a:latin typeface="Arial"/>
              </a:defRPr>
            </a:pPr>
            <a:r>
              <a:t>    💡 ПРАКТИЧЕСКОЕ ПРИМЕНЕНИЕ:</a:t>
            </a:r>
          </a:p>
          <a:p>
            <a:pPr>
              <a:defRPr sz="1400">
                <a:latin typeface="Arial"/>
              </a:defRPr>
            </a:pPr>
            <a:r>
              <a:t>    </a:t>
            </a:r>
          </a:p>
          <a:p>
            <a:pPr>
              <a:defRPr sz="1400">
                <a:latin typeface="Arial"/>
              </a:defRPr>
            </a:pPr>
            <a:r>
              <a:t>    • Результаты могут быть использованы для планирования берегозащитных мероприятий</a:t>
            </a:r>
          </a:p>
          <a:p>
            <a:pPr>
              <a:defRPr sz="1400">
                <a:latin typeface="Arial"/>
              </a:defRPr>
            </a:pPr>
            <a:r>
              <a:t>    • Модель позволяет прогнозировать динамику береговой линии на 20 лет</a:t>
            </a:r>
          </a:p>
          <a:p>
            <a:pPr>
              <a:defRPr sz="1400">
                <a:latin typeface="Arial"/>
              </a:defRPr>
            </a:pPr>
            <a:r>
              <a:t>    • Рекомендуется регулярное обновление модели по мере поступления новых данных</a:t>
            </a:r>
          </a:p>
          <a:p>
            <a:pPr>
              <a:defRPr sz="1400">
                <a:latin typeface="Arial"/>
              </a:defRPr>
            </a:pPr>
            <a:r>
              <a:t>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