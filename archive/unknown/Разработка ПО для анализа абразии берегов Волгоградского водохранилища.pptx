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  <p:sldMasterId id="2147483852" r:id="rId2"/>
    <p:sldMasterId id="2147483864" r:id="rId3"/>
    <p:sldMasterId id="2147483876" r:id="rId4"/>
    <p:sldMasterId id="2147483888" r:id="rId5"/>
    <p:sldMasterId id="2147483900" r:id="rId6"/>
    <p:sldMasterId id="2147483912" r:id="rId7"/>
  </p:sldMasterIdLst>
  <p:sldIdLst>
    <p:sldId id="256" r:id="rId8"/>
    <p:sldId id="272" r:id="rId9"/>
    <p:sldId id="258" r:id="rId10"/>
    <p:sldId id="259" r:id="rId11"/>
    <p:sldId id="260" r:id="rId12"/>
    <p:sldId id="261" r:id="rId13"/>
    <p:sldId id="257" r:id="rId14"/>
    <p:sldId id="262" r:id="rId15"/>
    <p:sldId id="263" r:id="rId16"/>
    <p:sldId id="264" r:id="rId17"/>
    <p:sldId id="265" r:id="rId18"/>
    <p:sldId id="268" r:id="rId19"/>
    <p:sldId id="273" r:id="rId20"/>
    <p:sldId id="274" r:id="rId21"/>
    <p:sldId id="275" r:id="rId22"/>
    <p:sldId id="276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6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10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FE440805-3D9D-4E5E-A257-2E09F4D0022E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31326F1A-2F53-4BC3-A2D7-994053146589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162698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0805-3D9D-4E5E-A257-2E09F4D0022E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26F1A-2F53-4BC3-A2D7-9940531465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3010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0805-3D9D-4E5E-A257-2E09F4D0022E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26F1A-2F53-4BC3-A2D7-994053146589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45540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0805-3D9D-4E5E-A257-2E09F4D0022E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26F1A-2F53-4BC3-A2D7-9940531465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3758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0805-3D9D-4E5E-A257-2E09F4D0022E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26F1A-2F53-4BC3-A2D7-9940531465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9032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0805-3D9D-4E5E-A257-2E09F4D0022E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26F1A-2F53-4BC3-A2D7-9940531465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132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0805-3D9D-4E5E-A257-2E09F4D0022E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26F1A-2F53-4BC3-A2D7-9940531465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8427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0805-3D9D-4E5E-A257-2E09F4D0022E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26F1A-2F53-4BC3-A2D7-9940531465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1512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0805-3D9D-4E5E-A257-2E09F4D0022E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26F1A-2F53-4BC3-A2D7-9940531465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8284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0805-3D9D-4E5E-A257-2E09F4D0022E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26F1A-2F53-4BC3-A2D7-9940531465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3036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0805-3D9D-4E5E-A257-2E09F4D0022E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26F1A-2F53-4BC3-A2D7-9940531465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75772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25752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6413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84722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31888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58125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73139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23339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99284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73336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54574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23410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82215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09782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67213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162621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25030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20770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09916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87291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05238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569134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21015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713579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153153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707449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835097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837574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649010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446966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426986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154145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119554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718387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147176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818129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91073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733360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804919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846990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068019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89706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576227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343901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094231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244979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720217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958768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078682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916409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67582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055595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008780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657705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541063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20663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342382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889350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886992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796183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9659030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154428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949266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868018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5010269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78162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5601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FE440805-3D9D-4E5E-A257-2E09F4D0022E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31326F1A-2F53-4BC3-A2D7-9940531465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982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4801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5165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4573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8977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3103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11/28/2025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8351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90423" y="565123"/>
            <a:ext cx="8825658" cy="1963541"/>
          </a:xfrm>
        </p:spPr>
        <p:txBody>
          <a:bodyPr>
            <a:normAutofit/>
          </a:bodyPr>
          <a:lstStyle/>
          <a:p>
            <a:pPr algn="ctr"/>
            <a:r>
              <a:rPr lang="ru-RU" sz="4000" dirty="0" smtClean="0"/>
              <a:t>Разработка ПО для анализа абразии берегов Волгоградского водохранилища</a:t>
            </a:r>
            <a:endParaRPr lang="ru-RU" sz="40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933475" y="4238419"/>
            <a:ext cx="3844811" cy="505601"/>
          </a:xfrm>
        </p:spPr>
        <p:txBody>
          <a:bodyPr>
            <a:normAutofit fontScale="40000" lnSpcReduction="20000"/>
          </a:bodyPr>
          <a:lstStyle/>
          <a:p>
            <a:pPr algn="ctr"/>
            <a:r>
              <a:rPr lang="ru-RU" dirty="0" smtClean="0"/>
              <a:t>Коновалов Владимир Викторович</a:t>
            </a:r>
            <a:br>
              <a:rPr lang="ru-RU" dirty="0" smtClean="0"/>
            </a:br>
            <a:r>
              <a:rPr lang="ru-RU" dirty="0" smtClean="0"/>
              <a:t>Студент кафедры Инженерно-математических и естественно-научных дисциплин</a:t>
            </a:r>
            <a:br>
              <a:rPr lang="ru-RU" dirty="0" smtClean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38685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0" y="457201"/>
            <a:ext cx="292419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>
              <a:defRPr sz="2400" b="1">
                <a:solidFill>
                  <a:srgbClr val="1F4E78"/>
                </a:solidFill>
              </a:defRPr>
            </a:pPr>
            <a:r>
              <a:rPr sz="2400" b="1">
                <a:solidFill>
                  <a:srgbClr val="1F4E78"/>
                </a:solidFill>
              </a:rPr>
              <a:t>Общая информация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1400">
                <a:latin typeface="Arial"/>
              </a:defRPr>
            </a:pPr>
            <a:endParaRPr sz="1400" dirty="0">
              <a:solidFill>
                <a:prstClr val="black"/>
              </a:solidFill>
              <a:latin typeface="Arial"/>
            </a:endParaRPr>
          </a:p>
          <a:p>
            <a:pPr defTabSz="457200">
              <a:defRPr sz="1400">
                <a:latin typeface="Arial"/>
              </a:defRPr>
            </a:pPr>
            <a:r>
              <a:rPr sz="1400" dirty="0">
                <a:solidFill>
                  <a:prstClr val="black"/>
                </a:solidFill>
                <a:latin typeface="Arial"/>
              </a:rPr>
              <a:t>    📊 ОБЗОР ДАННЫХ:</a:t>
            </a:r>
          </a:p>
          <a:p>
            <a:pPr defTabSz="457200">
              <a:defRPr sz="1400">
                <a:latin typeface="Arial"/>
              </a:defRPr>
            </a:pPr>
            <a:r>
              <a:rPr sz="1400" dirty="0">
                <a:solidFill>
                  <a:prstClr val="black"/>
                </a:solidFill>
                <a:latin typeface="Arial"/>
              </a:rPr>
              <a:t>    </a:t>
            </a:r>
          </a:p>
          <a:p>
            <a:pPr defTabSz="457200">
              <a:defRPr sz="1400">
                <a:latin typeface="Arial"/>
              </a:defRPr>
            </a:pPr>
            <a:r>
              <a:rPr sz="1400" dirty="0">
                <a:solidFill>
                  <a:prstClr val="black"/>
                </a:solidFill>
                <a:latin typeface="Arial"/>
              </a:rPr>
              <a:t>    • </a:t>
            </a:r>
            <a:r>
              <a:rPr sz="1400" dirty="0" err="1">
                <a:solidFill>
                  <a:prstClr val="black"/>
                </a:solidFill>
                <a:latin typeface="Arial"/>
              </a:rPr>
              <a:t>Количество</a:t>
            </a:r>
            <a:r>
              <a:rPr sz="1400" dirty="0">
                <a:solidFill>
                  <a:prstClr val="black"/>
                </a:solidFill>
                <a:latin typeface="Arial"/>
              </a:rPr>
              <a:t> </a:t>
            </a:r>
            <a:r>
              <a:rPr sz="1400" dirty="0" err="1">
                <a:solidFill>
                  <a:prstClr val="black"/>
                </a:solidFill>
                <a:latin typeface="Arial"/>
              </a:rPr>
              <a:t>участков</a:t>
            </a:r>
            <a:r>
              <a:rPr sz="1400" dirty="0">
                <a:solidFill>
                  <a:prstClr val="black"/>
                </a:solidFill>
                <a:latin typeface="Arial"/>
              </a:rPr>
              <a:t>: 11</a:t>
            </a:r>
          </a:p>
          <a:p>
            <a:pPr defTabSz="457200">
              <a:defRPr sz="1400">
                <a:latin typeface="Arial"/>
              </a:defRPr>
            </a:pPr>
            <a:r>
              <a:rPr sz="1400" dirty="0">
                <a:solidFill>
                  <a:prstClr val="black"/>
                </a:solidFill>
                <a:latin typeface="Arial"/>
              </a:rPr>
              <a:t>    • </a:t>
            </a:r>
            <a:r>
              <a:rPr sz="1400" dirty="0" err="1">
                <a:solidFill>
                  <a:prstClr val="black"/>
                </a:solidFill>
                <a:latin typeface="Arial"/>
              </a:rPr>
              <a:t>Общее</a:t>
            </a:r>
            <a:r>
              <a:rPr sz="1400" dirty="0">
                <a:solidFill>
                  <a:prstClr val="black"/>
                </a:solidFill>
                <a:latin typeface="Arial"/>
              </a:rPr>
              <a:t> </a:t>
            </a:r>
            <a:r>
              <a:rPr sz="1400" dirty="0" err="1">
                <a:solidFill>
                  <a:prstClr val="black"/>
                </a:solidFill>
                <a:latin typeface="Arial"/>
              </a:rPr>
              <a:t>количество</a:t>
            </a:r>
            <a:r>
              <a:rPr sz="1400" dirty="0">
                <a:solidFill>
                  <a:prstClr val="black"/>
                </a:solidFill>
                <a:latin typeface="Arial"/>
              </a:rPr>
              <a:t> </a:t>
            </a:r>
            <a:r>
              <a:rPr sz="1400" dirty="0" err="1">
                <a:solidFill>
                  <a:prstClr val="black"/>
                </a:solidFill>
                <a:latin typeface="Arial"/>
              </a:rPr>
              <a:t>наблюдений</a:t>
            </a:r>
            <a:r>
              <a:rPr sz="1400" dirty="0">
                <a:solidFill>
                  <a:prstClr val="black"/>
                </a:solidFill>
                <a:latin typeface="Arial"/>
              </a:rPr>
              <a:t>: 622</a:t>
            </a:r>
          </a:p>
          <a:p>
            <a:pPr defTabSz="457200">
              <a:defRPr sz="1400">
                <a:latin typeface="Arial"/>
              </a:defRPr>
            </a:pPr>
            <a:r>
              <a:rPr sz="1400" dirty="0">
                <a:solidFill>
                  <a:prstClr val="black"/>
                </a:solidFill>
                <a:latin typeface="Arial"/>
              </a:rPr>
              <a:t>    • </a:t>
            </a:r>
            <a:r>
              <a:rPr sz="1400" dirty="0" err="1">
                <a:solidFill>
                  <a:prstClr val="black"/>
                </a:solidFill>
                <a:latin typeface="Arial"/>
              </a:rPr>
              <a:t>Средняя</a:t>
            </a:r>
            <a:r>
              <a:rPr sz="1400" dirty="0">
                <a:solidFill>
                  <a:prstClr val="black"/>
                </a:solidFill>
                <a:latin typeface="Arial"/>
              </a:rPr>
              <a:t> </a:t>
            </a:r>
            <a:r>
              <a:rPr sz="1400" dirty="0" err="1">
                <a:solidFill>
                  <a:prstClr val="black"/>
                </a:solidFill>
                <a:latin typeface="Arial"/>
              </a:rPr>
              <a:t>абсолютная</a:t>
            </a:r>
            <a:r>
              <a:rPr sz="1400" dirty="0">
                <a:solidFill>
                  <a:prstClr val="black"/>
                </a:solidFill>
                <a:latin typeface="Arial"/>
              </a:rPr>
              <a:t> </a:t>
            </a:r>
            <a:r>
              <a:rPr sz="1400" dirty="0" err="1">
                <a:solidFill>
                  <a:prstClr val="black"/>
                </a:solidFill>
                <a:latin typeface="Arial"/>
              </a:rPr>
              <a:t>ошибка</a:t>
            </a:r>
            <a:r>
              <a:rPr sz="1400" dirty="0">
                <a:solidFill>
                  <a:prstClr val="black"/>
                </a:solidFill>
                <a:latin typeface="Arial"/>
              </a:rPr>
              <a:t>: 10.32 м</a:t>
            </a:r>
          </a:p>
          <a:p>
            <a:pPr defTabSz="457200">
              <a:defRPr sz="1400">
                <a:latin typeface="Arial"/>
              </a:defRPr>
            </a:pPr>
            <a:r>
              <a:rPr sz="1400" dirty="0">
                <a:solidFill>
                  <a:prstClr val="black"/>
                </a:solidFill>
                <a:latin typeface="Arial"/>
              </a:rPr>
              <a:t>    • </a:t>
            </a:r>
            <a:r>
              <a:rPr sz="1400" dirty="0" err="1">
                <a:solidFill>
                  <a:prstClr val="black"/>
                </a:solidFill>
                <a:latin typeface="Arial"/>
              </a:rPr>
              <a:t>Период</a:t>
            </a:r>
            <a:r>
              <a:rPr sz="1400" dirty="0">
                <a:solidFill>
                  <a:prstClr val="black"/>
                </a:solidFill>
                <a:latin typeface="Arial"/>
              </a:rPr>
              <a:t> </a:t>
            </a:r>
            <a:r>
              <a:rPr sz="1400" dirty="0" err="1">
                <a:solidFill>
                  <a:prstClr val="black"/>
                </a:solidFill>
                <a:latin typeface="Arial"/>
              </a:rPr>
              <a:t>анализа</a:t>
            </a:r>
            <a:r>
              <a:rPr sz="1400" dirty="0">
                <a:solidFill>
                  <a:prstClr val="black"/>
                </a:solidFill>
                <a:latin typeface="Arial"/>
              </a:rPr>
              <a:t>: </a:t>
            </a:r>
            <a:r>
              <a:rPr lang="en-US" sz="1400" dirty="0" smtClean="0">
                <a:solidFill>
                  <a:prstClr val="black"/>
                </a:solidFill>
                <a:latin typeface="Arial"/>
              </a:rPr>
              <a:t>c 1968 </a:t>
            </a:r>
            <a:r>
              <a:rPr lang="ru-RU" sz="1400" dirty="0" smtClean="0">
                <a:solidFill>
                  <a:prstClr val="black"/>
                </a:solidFill>
                <a:latin typeface="Arial"/>
              </a:rPr>
              <a:t>по </a:t>
            </a:r>
            <a:r>
              <a:rPr sz="1400" dirty="0" smtClean="0">
                <a:solidFill>
                  <a:prstClr val="black"/>
                </a:solidFill>
                <a:latin typeface="Arial"/>
              </a:rPr>
              <a:t>2025</a:t>
            </a:r>
            <a:r>
              <a:rPr lang="ru-RU" sz="1400" dirty="0" smtClean="0">
                <a:solidFill>
                  <a:prstClr val="black"/>
                </a:solidFill>
                <a:latin typeface="Arial"/>
              </a:rPr>
              <a:t> год</a:t>
            </a:r>
            <a:endParaRPr sz="1400" dirty="0">
              <a:solidFill>
                <a:prstClr val="black"/>
              </a:solidFill>
              <a:latin typeface="Arial"/>
            </a:endParaRPr>
          </a:p>
          <a:p>
            <a:pPr defTabSz="457200">
              <a:defRPr sz="1400">
                <a:latin typeface="Arial"/>
              </a:defRPr>
            </a:pPr>
            <a:r>
              <a:rPr lang="ru-RU" sz="1400" dirty="0" smtClean="0">
                <a:solidFill>
                  <a:prstClr val="black"/>
                </a:solidFill>
                <a:latin typeface="Arial"/>
              </a:rPr>
              <a:t> </a:t>
            </a:r>
            <a:r>
              <a:rPr sz="1400" dirty="0" smtClean="0">
                <a:solidFill>
                  <a:prstClr val="black"/>
                </a:solidFill>
                <a:latin typeface="Arial"/>
              </a:rPr>
              <a:t>    </a:t>
            </a:r>
            <a:endParaRPr sz="1400" dirty="0">
              <a:solidFill>
                <a:prstClr val="black"/>
              </a:solidFill>
              <a:latin typeface="Arial"/>
            </a:endParaRPr>
          </a:p>
          <a:p>
            <a:pPr defTabSz="457200">
              <a:defRPr sz="1400">
                <a:latin typeface="Arial"/>
              </a:defRPr>
            </a:pPr>
            <a:r>
              <a:rPr sz="1400" dirty="0">
                <a:solidFill>
                  <a:prstClr val="black"/>
                </a:solidFill>
                <a:latin typeface="Arial"/>
              </a:rPr>
              <a:t>    🎯 МЕТОДОЛОГИЯ:</a:t>
            </a:r>
          </a:p>
          <a:p>
            <a:pPr defTabSz="457200">
              <a:defRPr sz="1400">
                <a:latin typeface="Arial"/>
              </a:defRPr>
            </a:pPr>
            <a:r>
              <a:rPr sz="1400" dirty="0">
                <a:solidFill>
                  <a:prstClr val="black"/>
                </a:solidFill>
                <a:latin typeface="Arial"/>
              </a:rPr>
              <a:t>    </a:t>
            </a:r>
          </a:p>
          <a:p>
            <a:pPr defTabSz="457200">
              <a:defRPr sz="1400">
                <a:latin typeface="Arial"/>
              </a:defRPr>
            </a:pPr>
            <a:r>
              <a:rPr sz="1400" dirty="0">
                <a:solidFill>
                  <a:prstClr val="black"/>
                </a:solidFill>
                <a:latin typeface="Arial"/>
              </a:rPr>
              <a:t>    • </a:t>
            </a:r>
            <a:r>
              <a:rPr sz="1400" dirty="0" err="1">
                <a:solidFill>
                  <a:prstClr val="black"/>
                </a:solidFill>
                <a:latin typeface="Arial"/>
              </a:rPr>
              <a:t>Модель</a:t>
            </a:r>
            <a:r>
              <a:rPr sz="1400" dirty="0">
                <a:solidFill>
                  <a:prstClr val="black"/>
                </a:solidFill>
                <a:latin typeface="Arial"/>
              </a:rPr>
              <a:t>: MLP (</a:t>
            </a:r>
            <a:r>
              <a:rPr sz="1400" dirty="0" err="1">
                <a:solidFill>
                  <a:prstClr val="black"/>
                </a:solidFill>
                <a:latin typeface="Arial"/>
              </a:rPr>
              <a:t>многослойный</a:t>
            </a:r>
            <a:r>
              <a:rPr sz="1400" dirty="0">
                <a:solidFill>
                  <a:prstClr val="black"/>
                </a:solidFill>
                <a:latin typeface="Arial"/>
              </a:rPr>
              <a:t> </a:t>
            </a:r>
            <a:r>
              <a:rPr sz="1400" dirty="0" err="1">
                <a:solidFill>
                  <a:prstClr val="black"/>
                </a:solidFill>
                <a:latin typeface="Arial"/>
              </a:rPr>
              <a:t>перцептрон</a:t>
            </a:r>
            <a:r>
              <a:rPr sz="1400" dirty="0">
                <a:solidFill>
                  <a:prstClr val="black"/>
                </a:solidFill>
                <a:latin typeface="Arial"/>
              </a:rPr>
              <a:t>)</a:t>
            </a:r>
          </a:p>
          <a:p>
            <a:pPr defTabSz="457200">
              <a:defRPr sz="1400">
                <a:latin typeface="Arial"/>
              </a:defRPr>
            </a:pPr>
            <a:r>
              <a:rPr sz="1400" dirty="0">
                <a:solidFill>
                  <a:prstClr val="black"/>
                </a:solidFill>
                <a:latin typeface="Arial"/>
              </a:rPr>
              <a:t>    • </a:t>
            </a:r>
            <a:r>
              <a:rPr sz="1400" dirty="0" err="1">
                <a:solidFill>
                  <a:prstClr val="black"/>
                </a:solidFill>
                <a:latin typeface="Arial"/>
              </a:rPr>
              <a:t>Целевая</a:t>
            </a:r>
            <a:r>
              <a:rPr sz="1400" dirty="0">
                <a:solidFill>
                  <a:prstClr val="black"/>
                </a:solidFill>
                <a:latin typeface="Arial"/>
              </a:rPr>
              <a:t> </a:t>
            </a:r>
            <a:r>
              <a:rPr sz="1400" dirty="0" err="1">
                <a:solidFill>
                  <a:prstClr val="black"/>
                </a:solidFill>
                <a:latin typeface="Arial"/>
              </a:rPr>
              <a:t>переменная</a:t>
            </a:r>
            <a:r>
              <a:rPr sz="1400" dirty="0">
                <a:solidFill>
                  <a:prstClr val="black"/>
                </a:solidFill>
                <a:latin typeface="Arial"/>
              </a:rPr>
              <a:t>: </a:t>
            </a:r>
            <a:r>
              <a:rPr sz="1400" dirty="0" err="1">
                <a:solidFill>
                  <a:prstClr val="black"/>
                </a:solidFill>
                <a:latin typeface="Arial"/>
              </a:rPr>
              <a:t>Расстояние</a:t>
            </a:r>
            <a:r>
              <a:rPr sz="1400" dirty="0">
                <a:solidFill>
                  <a:prstClr val="black"/>
                </a:solidFill>
                <a:latin typeface="Arial"/>
              </a:rPr>
              <a:t> </a:t>
            </a:r>
            <a:r>
              <a:rPr sz="1400" dirty="0" err="1">
                <a:solidFill>
                  <a:prstClr val="black"/>
                </a:solidFill>
                <a:latin typeface="Arial"/>
              </a:rPr>
              <a:t>до</a:t>
            </a:r>
            <a:r>
              <a:rPr sz="1400" dirty="0">
                <a:solidFill>
                  <a:prstClr val="black"/>
                </a:solidFill>
                <a:latin typeface="Arial"/>
              </a:rPr>
              <a:t> ПН</a:t>
            </a:r>
          </a:p>
          <a:p>
            <a:pPr defTabSz="457200">
              <a:defRPr sz="1400">
                <a:latin typeface="Arial"/>
              </a:defRPr>
            </a:pPr>
            <a:r>
              <a:rPr sz="1400" dirty="0">
                <a:solidFill>
                  <a:prstClr val="black"/>
                </a:solidFill>
                <a:latin typeface="Arial"/>
              </a:rPr>
              <a:t>    • </a:t>
            </a:r>
            <a:r>
              <a:rPr sz="1400" dirty="0" err="1">
                <a:solidFill>
                  <a:prstClr val="black"/>
                </a:solidFill>
                <a:latin typeface="Arial"/>
              </a:rPr>
              <a:t>Признаки</a:t>
            </a:r>
            <a:r>
              <a:rPr sz="1400" dirty="0">
                <a:solidFill>
                  <a:prstClr val="black"/>
                </a:solidFill>
                <a:latin typeface="Arial"/>
              </a:rPr>
              <a:t>: </a:t>
            </a:r>
            <a:r>
              <a:rPr sz="1400" dirty="0" err="1">
                <a:solidFill>
                  <a:prstClr val="black"/>
                </a:solidFill>
                <a:latin typeface="Arial"/>
              </a:rPr>
              <a:t>Год</a:t>
            </a:r>
            <a:r>
              <a:rPr sz="1400" dirty="0">
                <a:solidFill>
                  <a:prstClr val="black"/>
                </a:solidFill>
                <a:latin typeface="Arial"/>
              </a:rPr>
              <a:t>, </a:t>
            </a:r>
            <a:r>
              <a:rPr sz="1400" dirty="0" err="1">
                <a:solidFill>
                  <a:prstClr val="black"/>
                </a:solidFill>
                <a:latin typeface="Arial"/>
              </a:rPr>
              <a:t>Участок</a:t>
            </a:r>
            <a:r>
              <a:rPr sz="1400" dirty="0">
                <a:solidFill>
                  <a:prstClr val="black"/>
                </a:solidFill>
                <a:latin typeface="Arial"/>
              </a:rPr>
              <a:t>, </a:t>
            </a:r>
            <a:r>
              <a:rPr sz="1400" dirty="0" err="1">
                <a:solidFill>
                  <a:prstClr val="black"/>
                </a:solidFill>
                <a:latin typeface="Arial"/>
              </a:rPr>
              <a:t>Профиль</a:t>
            </a:r>
            <a:r>
              <a:rPr sz="1400" dirty="0">
                <a:solidFill>
                  <a:prstClr val="black"/>
                </a:solidFill>
                <a:latin typeface="Arial"/>
              </a:rPr>
              <a:t>, </a:t>
            </a:r>
            <a:r>
              <a:rPr sz="1400" dirty="0" err="1">
                <a:solidFill>
                  <a:prstClr val="black"/>
                </a:solidFill>
                <a:latin typeface="Arial"/>
              </a:rPr>
              <a:t>Литология</a:t>
            </a:r>
            <a:endParaRPr sz="1400" dirty="0">
              <a:solidFill>
                <a:prstClr val="black"/>
              </a:solidFill>
              <a:latin typeface="Arial"/>
            </a:endParaRPr>
          </a:p>
          <a:p>
            <a:pPr defTabSz="457200">
              <a:defRPr sz="1400">
                <a:latin typeface="Arial"/>
              </a:defRPr>
            </a:pPr>
            <a:r>
              <a:rPr sz="1400" dirty="0">
                <a:solidFill>
                  <a:prstClr val="black"/>
                </a:solidFill>
                <a:latin typeface="Arial"/>
              </a:rPr>
              <a:t>    • </a:t>
            </a:r>
            <a:r>
              <a:rPr sz="1400" dirty="0" err="1">
                <a:solidFill>
                  <a:prstClr val="black"/>
                </a:solidFill>
                <a:latin typeface="Arial"/>
              </a:rPr>
              <a:t>Горизонт</a:t>
            </a:r>
            <a:r>
              <a:rPr sz="1400" dirty="0">
                <a:solidFill>
                  <a:prstClr val="black"/>
                </a:solidFill>
                <a:latin typeface="Arial"/>
              </a:rPr>
              <a:t> </a:t>
            </a:r>
            <a:r>
              <a:rPr sz="1400" dirty="0" err="1">
                <a:solidFill>
                  <a:prstClr val="black"/>
                </a:solidFill>
                <a:latin typeface="Arial"/>
              </a:rPr>
              <a:t>прогнозирования</a:t>
            </a:r>
            <a:r>
              <a:rPr sz="1400" dirty="0">
                <a:solidFill>
                  <a:prstClr val="black"/>
                </a:solidFill>
                <a:latin typeface="Arial"/>
              </a:rPr>
              <a:t>: 20 </a:t>
            </a:r>
            <a:r>
              <a:rPr sz="1400" dirty="0" err="1">
                <a:solidFill>
                  <a:prstClr val="black"/>
                </a:solidFill>
                <a:latin typeface="Arial"/>
              </a:rPr>
              <a:t>лет</a:t>
            </a:r>
            <a:endParaRPr sz="1400" dirty="0">
              <a:solidFill>
                <a:prstClr val="black"/>
              </a:solidFill>
              <a:latin typeface="Arial"/>
            </a:endParaRPr>
          </a:p>
          <a:p>
            <a:pPr defTabSz="457200">
              <a:defRPr sz="1400">
                <a:latin typeface="Arial"/>
              </a:defRPr>
            </a:pPr>
            <a:r>
              <a:rPr sz="1400" dirty="0">
                <a:solidFill>
                  <a:prstClr val="black"/>
                </a:solidFill>
                <a:latin typeface="Arial"/>
              </a:rPr>
              <a:t>    </a:t>
            </a:r>
          </a:p>
          <a:p>
            <a:pPr defTabSz="457200">
              <a:defRPr sz="1400">
                <a:latin typeface="Arial"/>
              </a:defRPr>
            </a:pPr>
            <a:r>
              <a:rPr sz="1400" dirty="0">
                <a:solidFill>
                  <a:prstClr val="black"/>
                </a:solidFill>
                <a:latin typeface="Arial"/>
              </a:rPr>
              <a:t>    📈 КРИТЕРИИ ОЦЕНКИ:</a:t>
            </a:r>
          </a:p>
          <a:p>
            <a:pPr defTabSz="457200">
              <a:defRPr sz="1400">
                <a:latin typeface="Arial"/>
              </a:defRPr>
            </a:pPr>
            <a:r>
              <a:rPr sz="1400" dirty="0">
                <a:solidFill>
                  <a:prstClr val="black"/>
                </a:solidFill>
                <a:latin typeface="Arial"/>
              </a:rPr>
              <a:t>    </a:t>
            </a:r>
          </a:p>
          <a:p>
            <a:pPr defTabSz="457200">
              <a:defRPr sz="1400">
                <a:latin typeface="Arial"/>
              </a:defRPr>
            </a:pPr>
            <a:r>
              <a:rPr sz="1400" dirty="0">
                <a:solidFill>
                  <a:prstClr val="black"/>
                </a:solidFill>
                <a:latin typeface="Arial"/>
              </a:rPr>
              <a:t>    • </a:t>
            </a:r>
            <a:r>
              <a:rPr sz="1400" dirty="0" err="1">
                <a:solidFill>
                  <a:prstClr val="black"/>
                </a:solidFill>
                <a:latin typeface="Arial"/>
              </a:rPr>
              <a:t>Высокая</a:t>
            </a:r>
            <a:r>
              <a:rPr sz="1400" dirty="0">
                <a:solidFill>
                  <a:prstClr val="black"/>
                </a:solidFill>
                <a:latin typeface="Arial"/>
              </a:rPr>
              <a:t> </a:t>
            </a:r>
            <a:r>
              <a:rPr sz="1400" dirty="0" err="1">
                <a:solidFill>
                  <a:prstClr val="black"/>
                </a:solidFill>
                <a:latin typeface="Arial"/>
              </a:rPr>
              <a:t>точность</a:t>
            </a:r>
            <a:r>
              <a:rPr sz="1400" dirty="0">
                <a:solidFill>
                  <a:prstClr val="black"/>
                </a:solidFill>
                <a:latin typeface="Arial"/>
              </a:rPr>
              <a:t>: &lt; 5 м</a:t>
            </a:r>
          </a:p>
          <a:p>
            <a:pPr defTabSz="457200">
              <a:defRPr sz="1400">
                <a:latin typeface="Arial"/>
              </a:defRPr>
            </a:pPr>
            <a:r>
              <a:rPr sz="1400" dirty="0">
                <a:solidFill>
                  <a:prstClr val="black"/>
                </a:solidFill>
                <a:latin typeface="Arial"/>
              </a:rPr>
              <a:t>    • </a:t>
            </a:r>
            <a:r>
              <a:rPr sz="1400" dirty="0" err="1">
                <a:solidFill>
                  <a:prstClr val="black"/>
                </a:solidFill>
                <a:latin typeface="Arial"/>
              </a:rPr>
              <a:t>Средняя</a:t>
            </a:r>
            <a:r>
              <a:rPr sz="1400" dirty="0">
                <a:solidFill>
                  <a:prstClr val="black"/>
                </a:solidFill>
                <a:latin typeface="Arial"/>
              </a:rPr>
              <a:t> </a:t>
            </a:r>
            <a:r>
              <a:rPr sz="1400" dirty="0" err="1">
                <a:solidFill>
                  <a:prstClr val="black"/>
                </a:solidFill>
                <a:latin typeface="Arial"/>
              </a:rPr>
              <a:t>точность</a:t>
            </a:r>
            <a:r>
              <a:rPr sz="1400" dirty="0">
                <a:solidFill>
                  <a:prstClr val="black"/>
                </a:solidFill>
                <a:latin typeface="Arial"/>
              </a:rPr>
              <a:t>: 5-10 м  </a:t>
            </a:r>
          </a:p>
          <a:p>
            <a:pPr defTabSz="457200">
              <a:defRPr sz="1400">
                <a:latin typeface="Arial"/>
              </a:defRPr>
            </a:pPr>
            <a:r>
              <a:rPr sz="1400" dirty="0">
                <a:solidFill>
                  <a:prstClr val="black"/>
                </a:solidFill>
                <a:latin typeface="Arial"/>
              </a:rPr>
              <a:t>    • </a:t>
            </a:r>
            <a:r>
              <a:rPr sz="1400" dirty="0" err="1">
                <a:solidFill>
                  <a:prstClr val="black"/>
                </a:solidFill>
                <a:latin typeface="Arial"/>
              </a:rPr>
              <a:t>Низкая</a:t>
            </a:r>
            <a:r>
              <a:rPr sz="1400" dirty="0">
                <a:solidFill>
                  <a:prstClr val="black"/>
                </a:solidFill>
                <a:latin typeface="Arial"/>
              </a:rPr>
              <a:t> </a:t>
            </a:r>
            <a:r>
              <a:rPr sz="1400" dirty="0" err="1">
                <a:solidFill>
                  <a:prstClr val="black"/>
                </a:solidFill>
                <a:latin typeface="Arial"/>
              </a:rPr>
              <a:t>точность</a:t>
            </a:r>
            <a:r>
              <a:rPr sz="1400" dirty="0">
                <a:solidFill>
                  <a:prstClr val="black"/>
                </a:solidFill>
                <a:latin typeface="Arial"/>
              </a:rPr>
              <a:t>: ≥ 10 м</a:t>
            </a:r>
          </a:p>
          <a:p>
            <a:pPr defTabSz="457200">
              <a:defRPr sz="1400">
                <a:latin typeface="Arial"/>
              </a:defRPr>
            </a:pPr>
            <a:r>
              <a:rPr sz="1400" dirty="0">
                <a:solidFill>
                  <a:prstClr val="black"/>
                </a:solidFill>
                <a:latin typeface="Arial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130916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0492"/>
            <a:ext cx="12192000" cy="6037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715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5318" y="0"/>
            <a:ext cx="80613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804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151" y="0"/>
            <a:ext cx="9231698" cy="685800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3180" y="5674307"/>
            <a:ext cx="1984679" cy="505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227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924" y="-66716"/>
            <a:ext cx="9231698" cy="68580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7597" y="5561734"/>
            <a:ext cx="2133809" cy="543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998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89" y="0"/>
            <a:ext cx="115368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681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1047750"/>
            <a:ext cx="95250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915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1047750"/>
            <a:ext cx="95250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879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1047750"/>
            <a:ext cx="95250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421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967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Анализ точности прогнозирования</a:t>
            </a:r>
          </a:p>
          <a:p>
            <a:r>
              <a:t>береговой эрозии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Статистика ошибок модели MLP</a:t>
            </a:r>
          </a:p>
          <a:p>
            <a:r>
              <a:t>28.11.2025</a:t>
            </a:r>
          </a:p>
        </p:txBody>
      </p:sp>
    </p:spTree>
    <p:extLst>
      <p:ext uri="{BB962C8B-B14F-4D97-AF65-F5344CB8AC3E}">
        <p14:creationId xmlns:p14="http://schemas.microsoft.com/office/powerpoint/2010/main" val="469358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0" y="274320"/>
            <a:ext cx="372467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>
              <a:defRPr sz="2000" b="1">
                <a:solidFill>
                  <a:srgbClr val="1F4E78"/>
                </a:solidFill>
              </a:defRPr>
            </a:pPr>
            <a:r>
              <a:rPr sz="2000" b="1">
                <a:solidFill>
                  <a:srgbClr val="1F4E78"/>
                </a:solidFill>
              </a:rPr>
              <a:t>Статистика ошибок по участкам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981200" y="1097280"/>
          <a:ext cx="8229600" cy="5013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8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Участок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Средняя</a:t>
                      </a:r>
                    </a:p>
                    <a:p>
                      <a:r>
                        <a:t>ошибка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Стд</a:t>
                      </a:r>
                    </a:p>
                    <a:p>
                      <a:r>
                        <a:t>ошибки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Мин</a:t>
                      </a:r>
                    </a:p>
                    <a:p>
                      <a:r>
                        <a:t>ошибка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Макс</a:t>
                      </a:r>
                    </a:p>
                    <a:p>
                      <a:r>
                        <a:t>ошибка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Средняя</a:t>
                      </a:r>
                    </a:p>
                    <a:p>
                      <a:r>
                        <a:t>абс. ошибка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Наблюдения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Бережновка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18.79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-38.30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75.75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C0000"/>
                          </a:solidFill>
                        </a:defRPr>
                      </a:pPr>
                      <a:r>
                        <a:t>14.54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71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Бурты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0.12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3.79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-8.30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6.88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000"/>
                          </a:solidFill>
                        </a:defRPr>
                      </a:pPr>
                      <a:r>
                        <a:t>3.11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Лист1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59.33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-98.34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81.20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C0000"/>
                          </a:solidFill>
                        </a:defRPr>
                      </a:pPr>
                      <a:r>
                        <a:t>42.69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Молчановка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0.98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7.01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-18.77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9.83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A500"/>
                          </a:solidFill>
                        </a:defRPr>
                      </a:pPr>
                      <a:r>
                        <a:t>5.75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Нижний Балыклей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-0.03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9.32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-15.07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21.86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A500"/>
                          </a:solidFill>
                        </a:defRPr>
                      </a:pPr>
                      <a:r>
                        <a:t>8.02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68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Нижний Ураков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0.64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4.40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-9.35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10.06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000"/>
                          </a:solidFill>
                        </a:defRPr>
                      </a:pPr>
                      <a:r>
                        <a:t>3.47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Новоникольское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-1.76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26.44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-37.32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79.22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C0000"/>
                          </a:solidFill>
                        </a:defRPr>
                      </a:pPr>
                      <a:r>
                        <a:t>21.08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56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Пичуга-Южный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1.43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5.94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-11.91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13.90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000"/>
                          </a:solidFill>
                        </a:defRPr>
                      </a:pPr>
                      <a:r>
                        <a:t>4.23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Пролейский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-12.00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9.98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000"/>
                          </a:solidFill>
                        </a:defRPr>
                      </a:pPr>
                      <a:r>
                        <a:t>4.47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68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Суводская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2.44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-7.48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3.27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000"/>
                          </a:solidFill>
                        </a:defRPr>
                      </a:pPr>
                      <a:r>
                        <a:t>1.37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Ураков Бугор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-20.77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13.20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000"/>
                          </a:solidFill>
                        </a:defRPr>
                      </a:pPr>
                      <a:r>
                        <a:t>4.75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4553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1" y="274320"/>
            <a:ext cx="482997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>
              <a:defRPr sz="2000" b="1">
                <a:solidFill>
                  <a:srgbClr val="1F4E78"/>
                </a:solidFill>
              </a:defRPr>
            </a:pPr>
            <a:r>
              <a:rPr sz="2000" b="1">
                <a:solidFill>
                  <a:srgbClr val="1F4E78"/>
                </a:solidFill>
              </a:rPr>
              <a:t>Визуализация точности прогнозирования</a:t>
            </a:r>
          </a:p>
        </p:txBody>
      </p:sp>
      <p:pic>
        <p:nvPicPr>
          <p:cNvPr id="3" name="Picture 2" descr="temp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188720"/>
            <a:ext cx="82296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593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1" y="274320"/>
            <a:ext cx="366016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>
              <a:defRPr sz="2000" b="1">
                <a:solidFill>
                  <a:srgbClr val="1F4E78"/>
                </a:solidFill>
              </a:defRPr>
            </a:pPr>
            <a:r>
              <a:rPr sz="2000" b="1">
                <a:solidFill>
                  <a:srgbClr val="1F4E78"/>
                </a:solidFill>
              </a:rPr>
              <a:t>Детальный анализ результатов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188720"/>
            <a:ext cx="82296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1400">
                <a:latin typeface="Arial"/>
              </a:defRPr>
            </a:pPr>
            <a:endParaRPr sz="1400">
              <a:solidFill>
                <a:prstClr val="black"/>
              </a:solidFill>
              <a:latin typeface="Arial"/>
            </a:endParaRPr>
          </a:p>
          <a:p>
            <a:pPr defTabSz="457200">
              <a:defRPr sz="1400">
                <a:latin typeface="Arial"/>
              </a:defRPr>
            </a:pPr>
            <a:r>
              <a:rPr sz="1400">
                <a:solidFill>
                  <a:prstClr val="black"/>
                </a:solidFill>
                <a:latin typeface="Arial"/>
              </a:rPr>
              <a:t>    🏆 ЛУЧШИЕ РЕЗУЛЬТАТЫ:</a:t>
            </a:r>
          </a:p>
          <a:p>
            <a:pPr defTabSz="457200">
              <a:defRPr sz="1400">
                <a:latin typeface="Arial"/>
              </a:defRPr>
            </a:pPr>
            <a:r>
              <a:rPr sz="1400">
                <a:solidFill>
                  <a:prstClr val="black"/>
                </a:solidFill>
                <a:latin typeface="Arial"/>
              </a:rPr>
              <a:t>    </a:t>
            </a:r>
          </a:p>
          <a:p>
            <a:pPr defTabSz="457200">
              <a:defRPr sz="1400">
                <a:latin typeface="Arial"/>
              </a:defRPr>
            </a:pPr>
            <a:r>
              <a:rPr sz="1400">
                <a:solidFill>
                  <a:prstClr val="black"/>
                </a:solidFill>
                <a:latin typeface="Arial"/>
              </a:rPr>
              <a:t>    • Участок: Суводская</a:t>
            </a:r>
          </a:p>
          <a:p>
            <a:pPr defTabSz="457200">
              <a:defRPr sz="1400">
                <a:latin typeface="Arial"/>
              </a:defRPr>
            </a:pPr>
            <a:r>
              <a:rPr sz="1400">
                <a:solidFill>
                  <a:prstClr val="black"/>
                </a:solidFill>
                <a:latin typeface="Arial"/>
              </a:rPr>
              <a:t>    • Средняя абсолютная ошибка: 1.37 м</a:t>
            </a:r>
          </a:p>
          <a:p>
            <a:pPr defTabSz="457200">
              <a:defRPr sz="1400">
                <a:latin typeface="Arial"/>
              </a:defRPr>
            </a:pPr>
            <a:r>
              <a:rPr sz="1400">
                <a:solidFill>
                  <a:prstClr val="black"/>
                </a:solidFill>
                <a:latin typeface="Arial"/>
              </a:rPr>
              <a:t>    • Количество наблюдений: 14</a:t>
            </a:r>
          </a:p>
          <a:p>
            <a:pPr defTabSz="457200">
              <a:defRPr sz="1400">
                <a:latin typeface="Arial"/>
              </a:defRPr>
            </a:pPr>
            <a:r>
              <a:rPr sz="1400">
                <a:solidFill>
                  <a:prstClr val="black"/>
                </a:solidFill>
                <a:latin typeface="Arial"/>
              </a:rPr>
              <a:t>    • Стандартное отклонение: 2.44 м</a:t>
            </a:r>
          </a:p>
          <a:p>
            <a:pPr defTabSz="457200">
              <a:defRPr sz="1400">
                <a:latin typeface="Arial"/>
              </a:defRPr>
            </a:pPr>
            <a:r>
              <a:rPr sz="1400">
                <a:solidFill>
                  <a:prstClr val="black"/>
                </a:solidFill>
                <a:latin typeface="Arial"/>
              </a:rPr>
              <a:t>    </a:t>
            </a:r>
          </a:p>
          <a:p>
            <a:pPr defTabSz="457200">
              <a:defRPr sz="1400">
                <a:latin typeface="Arial"/>
              </a:defRPr>
            </a:pPr>
            <a:r>
              <a:rPr sz="1400">
                <a:solidFill>
                  <a:prstClr val="black"/>
                </a:solidFill>
                <a:latin typeface="Arial"/>
              </a:rPr>
              <a:t>    ⚠️ НАИБОЛЕЕ ПРОБЛЕМНЫЕ УЧАСТКИ:</a:t>
            </a:r>
          </a:p>
          <a:p>
            <a:pPr defTabSz="457200">
              <a:defRPr sz="1400">
                <a:latin typeface="Arial"/>
              </a:defRPr>
            </a:pPr>
            <a:r>
              <a:rPr sz="1400">
                <a:solidFill>
                  <a:prstClr val="black"/>
                </a:solidFill>
                <a:latin typeface="Arial"/>
              </a:rPr>
              <a:t>    </a:t>
            </a:r>
          </a:p>
          <a:p>
            <a:pPr defTabSz="457200">
              <a:defRPr sz="1400">
                <a:latin typeface="Arial"/>
              </a:defRPr>
            </a:pPr>
            <a:r>
              <a:rPr sz="1400">
                <a:solidFill>
                  <a:prstClr val="black"/>
                </a:solidFill>
                <a:latin typeface="Arial"/>
              </a:rPr>
              <a:t>    • Участок: Лист1</a:t>
            </a:r>
          </a:p>
          <a:p>
            <a:pPr defTabSz="457200">
              <a:defRPr sz="1400">
                <a:latin typeface="Arial"/>
              </a:defRPr>
            </a:pPr>
            <a:r>
              <a:rPr sz="1400">
                <a:solidFill>
                  <a:prstClr val="black"/>
                </a:solidFill>
                <a:latin typeface="Arial"/>
              </a:rPr>
              <a:t>    • Средняя абсолютная ошибка: 42.69 м  </a:t>
            </a:r>
          </a:p>
          <a:p>
            <a:pPr defTabSz="457200">
              <a:defRPr sz="1400">
                <a:latin typeface="Arial"/>
              </a:defRPr>
            </a:pPr>
            <a:r>
              <a:rPr sz="1400">
                <a:solidFill>
                  <a:prstClr val="black"/>
                </a:solidFill>
                <a:latin typeface="Arial"/>
              </a:rPr>
              <a:t>    • Количество наблюдений: 8</a:t>
            </a:r>
          </a:p>
          <a:p>
            <a:pPr defTabSz="457200">
              <a:defRPr sz="1400">
                <a:latin typeface="Arial"/>
              </a:defRPr>
            </a:pPr>
            <a:r>
              <a:rPr sz="1400">
                <a:solidFill>
                  <a:prstClr val="black"/>
                </a:solidFill>
                <a:latin typeface="Arial"/>
              </a:rPr>
              <a:t>    • Стандартное отклонение: 59.33 м</a:t>
            </a:r>
          </a:p>
          <a:p>
            <a:pPr defTabSz="457200">
              <a:defRPr sz="1400">
                <a:latin typeface="Arial"/>
              </a:defRPr>
            </a:pPr>
            <a:r>
              <a:rPr sz="1400">
                <a:solidFill>
                  <a:prstClr val="black"/>
                </a:solidFill>
                <a:latin typeface="Arial"/>
              </a:rPr>
              <a:t>    </a:t>
            </a:r>
          </a:p>
          <a:p>
            <a:pPr defTabSz="457200">
              <a:defRPr sz="1400">
                <a:latin typeface="Arial"/>
              </a:defRPr>
            </a:pPr>
            <a:r>
              <a:rPr sz="1400">
                <a:solidFill>
                  <a:prstClr val="black"/>
                </a:solidFill>
                <a:latin typeface="Arial"/>
              </a:rPr>
              <a:t>    📋 РЕКОМЕНДАЦИИ:</a:t>
            </a:r>
          </a:p>
          <a:p>
            <a:pPr defTabSz="457200">
              <a:defRPr sz="1400">
                <a:latin typeface="Arial"/>
              </a:defRPr>
            </a:pPr>
            <a:r>
              <a:rPr sz="1400">
                <a:solidFill>
                  <a:prstClr val="black"/>
                </a:solidFill>
                <a:latin typeface="Arial"/>
              </a:rPr>
              <a:t>    </a:t>
            </a:r>
          </a:p>
          <a:p>
            <a:pPr defTabSz="457200">
              <a:defRPr sz="1400">
                <a:latin typeface="Arial"/>
              </a:defRPr>
            </a:pPr>
            <a:r>
              <a:rPr sz="1400">
                <a:solidFill>
                  <a:prstClr val="black"/>
                </a:solidFill>
                <a:latin typeface="Arial"/>
              </a:rPr>
              <a:t>    • Увеличить сбор данных для участков с низкой точностью</a:t>
            </a:r>
          </a:p>
          <a:p>
            <a:pPr defTabSz="457200">
              <a:defRPr sz="1400">
                <a:latin typeface="Arial"/>
              </a:defRPr>
            </a:pPr>
            <a:r>
              <a:rPr sz="1400">
                <a:solidFill>
                  <a:prstClr val="black"/>
                </a:solidFill>
                <a:latin typeface="Arial"/>
              </a:rPr>
              <a:t>    • Проверить качество данных проблемных участков</a:t>
            </a:r>
          </a:p>
          <a:p>
            <a:pPr defTabSz="457200">
              <a:defRPr sz="1400">
                <a:latin typeface="Arial"/>
              </a:defRPr>
            </a:pPr>
            <a:r>
              <a:rPr sz="1400">
                <a:solidFill>
                  <a:prstClr val="black"/>
                </a:solidFill>
                <a:latin typeface="Arial"/>
              </a:rPr>
              <a:t>    • Рассмотреть дополнительные факторы для сложных участков</a:t>
            </a:r>
          </a:p>
          <a:p>
            <a:pPr defTabSz="457200">
              <a:defRPr sz="1400">
                <a:latin typeface="Arial"/>
              </a:defRPr>
            </a:pPr>
            <a:r>
              <a:rPr sz="1400">
                <a:solidFill>
                  <a:prstClr val="black"/>
                </a:solidFill>
                <a:latin typeface="Arial"/>
              </a:rPr>
              <a:t>    • Использовать участки с высокой точностью для калибровки модели</a:t>
            </a:r>
          </a:p>
          <a:p>
            <a:pPr defTabSz="457200">
              <a:defRPr sz="1400">
                <a:latin typeface="Arial"/>
              </a:defRPr>
            </a:pPr>
            <a:r>
              <a:rPr sz="1400">
                <a:solidFill>
                  <a:prstClr val="black"/>
                </a:solidFill>
                <a:latin typeface="Arial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696648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1" y="457201"/>
            <a:ext cx="322748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>
              <a:defRPr sz="2400" b="1">
                <a:solidFill>
                  <a:srgbClr val="1F4E78"/>
                </a:solidFill>
              </a:defRPr>
            </a:pPr>
            <a:r>
              <a:rPr sz="2400" b="1">
                <a:solidFill>
                  <a:srgbClr val="1F4E78"/>
                </a:solidFill>
              </a:rPr>
              <a:t>Выводы и заключение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645921"/>
            <a:ext cx="82296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1400">
                <a:latin typeface="Arial"/>
              </a:defRPr>
            </a:pPr>
            <a:endParaRPr sz="1400">
              <a:solidFill>
                <a:prstClr val="black"/>
              </a:solidFill>
              <a:latin typeface="Arial"/>
            </a:endParaRPr>
          </a:p>
          <a:p>
            <a:pPr defTabSz="457200">
              <a:defRPr sz="1400">
                <a:latin typeface="Arial"/>
              </a:defRPr>
            </a:pPr>
            <a:r>
              <a:rPr sz="1400">
                <a:solidFill>
                  <a:prstClr val="black"/>
                </a:solidFill>
                <a:latin typeface="Arial"/>
              </a:rPr>
              <a:t>    📊 ОСНОВНЫЕ ВЫВОДЫ:</a:t>
            </a:r>
          </a:p>
          <a:p>
            <a:pPr defTabSz="457200">
              <a:defRPr sz="1400">
                <a:latin typeface="Arial"/>
              </a:defRPr>
            </a:pPr>
            <a:r>
              <a:rPr sz="1400">
                <a:solidFill>
                  <a:prstClr val="black"/>
                </a:solidFill>
                <a:latin typeface="Arial"/>
              </a:rPr>
              <a:t>    </a:t>
            </a:r>
          </a:p>
          <a:p>
            <a:pPr defTabSz="457200">
              <a:defRPr sz="1400">
                <a:latin typeface="Arial"/>
              </a:defRPr>
            </a:pPr>
            <a:r>
              <a:rPr sz="1400">
                <a:solidFill>
                  <a:prstClr val="black"/>
                </a:solidFill>
                <a:latin typeface="Arial"/>
              </a:rPr>
              <a:t>    • Модель демонстрирует хорошую точность для 6 из 11 участков</a:t>
            </a:r>
          </a:p>
          <a:p>
            <a:pPr defTabSz="457200">
              <a:defRPr sz="1400">
                <a:latin typeface="Arial"/>
              </a:defRPr>
            </a:pPr>
            <a:r>
              <a:rPr sz="1400">
                <a:solidFill>
                  <a:prstClr val="black"/>
                </a:solidFill>
                <a:latin typeface="Arial"/>
              </a:rPr>
              <a:t>    • Средняя точность достигнута для 2 участков</a:t>
            </a:r>
          </a:p>
          <a:p>
            <a:pPr defTabSz="457200">
              <a:defRPr sz="1400">
                <a:latin typeface="Arial"/>
              </a:defRPr>
            </a:pPr>
            <a:r>
              <a:rPr sz="1400">
                <a:solidFill>
                  <a:prstClr val="black"/>
                </a:solidFill>
                <a:latin typeface="Arial"/>
              </a:rPr>
              <a:t>    • Требуют внимания 3 участков с низкой точностью</a:t>
            </a:r>
          </a:p>
          <a:p>
            <a:pPr defTabSz="457200">
              <a:defRPr sz="1400">
                <a:latin typeface="Arial"/>
              </a:defRPr>
            </a:pPr>
            <a:r>
              <a:rPr sz="1400">
                <a:solidFill>
                  <a:prstClr val="black"/>
                </a:solidFill>
                <a:latin typeface="Arial"/>
              </a:rPr>
              <a:t>    </a:t>
            </a:r>
          </a:p>
          <a:p>
            <a:pPr defTabSz="457200">
              <a:defRPr sz="1400">
                <a:latin typeface="Arial"/>
              </a:defRPr>
            </a:pPr>
            <a:r>
              <a:rPr sz="1400">
                <a:solidFill>
                  <a:prstClr val="black"/>
                </a:solidFill>
                <a:latin typeface="Arial"/>
              </a:rPr>
              <a:t>    🎯 ПЕРСПЕКТИВЫ РАЗВИТИЯ:</a:t>
            </a:r>
          </a:p>
          <a:p>
            <a:pPr defTabSz="457200">
              <a:defRPr sz="1400">
                <a:latin typeface="Arial"/>
              </a:defRPr>
            </a:pPr>
            <a:r>
              <a:rPr sz="1400">
                <a:solidFill>
                  <a:prstClr val="black"/>
                </a:solidFill>
                <a:latin typeface="Arial"/>
              </a:rPr>
              <a:t>    </a:t>
            </a:r>
          </a:p>
          <a:p>
            <a:pPr defTabSz="457200">
              <a:defRPr sz="1400">
                <a:latin typeface="Arial"/>
              </a:defRPr>
            </a:pPr>
            <a:r>
              <a:rPr sz="1400">
                <a:solidFill>
                  <a:prstClr val="black"/>
                </a:solidFill>
                <a:latin typeface="Arial"/>
              </a:rPr>
              <a:t>    • Оптимизация гиперпараметров модели</a:t>
            </a:r>
          </a:p>
          <a:p>
            <a:pPr defTabSz="457200">
              <a:defRPr sz="1400">
                <a:latin typeface="Arial"/>
              </a:defRPr>
            </a:pPr>
            <a:r>
              <a:rPr sz="1400">
                <a:solidFill>
                  <a:prstClr val="black"/>
                </a:solidFill>
                <a:latin typeface="Arial"/>
              </a:rPr>
              <a:t>    • Включение дополнительных признаков</a:t>
            </a:r>
          </a:p>
          <a:p>
            <a:pPr defTabSz="457200">
              <a:defRPr sz="1400">
                <a:latin typeface="Arial"/>
              </a:defRPr>
            </a:pPr>
            <a:r>
              <a:rPr sz="1400">
                <a:solidFill>
                  <a:prstClr val="black"/>
                </a:solidFill>
                <a:latin typeface="Arial"/>
              </a:rPr>
              <a:t>    • Увеличение объема обучающих данных</a:t>
            </a:r>
          </a:p>
          <a:p>
            <a:pPr defTabSz="457200">
              <a:defRPr sz="1400">
                <a:latin typeface="Arial"/>
              </a:defRPr>
            </a:pPr>
            <a:r>
              <a:rPr sz="1400">
                <a:solidFill>
                  <a:prstClr val="black"/>
                </a:solidFill>
                <a:latin typeface="Arial"/>
              </a:rPr>
              <a:t>    • Внедрение ансамблевых методов</a:t>
            </a:r>
          </a:p>
          <a:p>
            <a:pPr defTabSz="457200">
              <a:defRPr sz="1400">
                <a:latin typeface="Arial"/>
              </a:defRPr>
            </a:pPr>
            <a:r>
              <a:rPr sz="1400">
                <a:solidFill>
                  <a:prstClr val="black"/>
                </a:solidFill>
                <a:latin typeface="Arial"/>
              </a:rPr>
              <a:t>    </a:t>
            </a:r>
          </a:p>
          <a:p>
            <a:pPr defTabSz="457200">
              <a:defRPr sz="1400">
                <a:latin typeface="Arial"/>
              </a:defRPr>
            </a:pPr>
            <a:r>
              <a:rPr sz="1400">
                <a:solidFill>
                  <a:prstClr val="black"/>
                </a:solidFill>
                <a:latin typeface="Arial"/>
              </a:rPr>
              <a:t>    💡 ПРАКТИЧЕСКОЕ ПРИМЕНЕНИЕ:</a:t>
            </a:r>
          </a:p>
          <a:p>
            <a:pPr defTabSz="457200">
              <a:defRPr sz="1400">
                <a:latin typeface="Arial"/>
              </a:defRPr>
            </a:pPr>
            <a:r>
              <a:rPr sz="1400">
                <a:solidFill>
                  <a:prstClr val="black"/>
                </a:solidFill>
                <a:latin typeface="Arial"/>
              </a:rPr>
              <a:t>    </a:t>
            </a:r>
          </a:p>
          <a:p>
            <a:pPr defTabSz="457200">
              <a:defRPr sz="1400">
                <a:latin typeface="Arial"/>
              </a:defRPr>
            </a:pPr>
            <a:r>
              <a:rPr sz="1400">
                <a:solidFill>
                  <a:prstClr val="black"/>
                </a:solidFill>
                <a:latin typeface="Arial"/>
              </a:rPr>
              <a:t>    • Результаты могут быть использованы для планирования берегозащитных мероприятий</a:t>
            </a:r>
          </a:p>
          <a:p>
            <a:pPr defTabSz="457200">
              <a:defRPr sz="1400">
                <a:latin typeface="Arial"/>
              </a:defRPr>
            </a:pPr>
            <a:r>
              <a:rPr sz="1400">
                <a:solidFill>
                  <a:prstClr val="black"/>
                </a:solidFill>
                <a:latin typeface="Arial"/>
              </a:rPr>
              <a:t>    • Модель позволяет прогнозировать динамику береговой линии на 20 лет</a:t>
            </a:r>
          </a:p>
          <a:p>
            <a:pPr defTabSz="457200">
              <a:defRPr sz="1400">
                <a:latin typeface="Arial"/>
              </a:defRPr>
            </a:pPr>
            <a:r>
              <a:rPr sz="1400">
                <a:solidFill>
                  <a:prstClr val="black"/>
                </a:solidFill>
                <a:latin typeface="Arial"/>
              </a:rPr>
              <a:t>    • Рекомендуется регулярное обновление модели по мере поступления новых данных</a:t>
            </a:r>
          </a:p>
          <a:p>
            <a:pPr defTabSz="457200">
              <a:defRPr sz="1400">
                <a:latin typeface="Arial"/>
              </a:defRPr>
            </a:pPr>
            <a:r>
              <a:rPr sz="1400">
                <a:solidFill>
                  <a:prstClr val="black"/>
                </a:solidFill>
                <a:latin typeface="Arial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4104559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iew">
  <a:themeElements>
    <a:clrScheme name="Другая 1">
      <a:dk1>
        <a:srgbClr val="D3DCE3"/>
      </a:dk1>
      <a:lt1>
        <a:srgbClr val="FFFFFF"/>
      </a:lt1>
      <a:dk2>
        <a:srgbClr val="BDCBD4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TM03457515[[fn=Вид]]</Template>
  <TotalTime>240</TotalTime>
  <Words>462</Words>
  <Application>Microsoft Office PowerPoint</Application>
  <PresentationFormat>Широкоэкранный</PresentationFormat>
  <Paragraphs>163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7</vt:i4>
      </vt:variant>
      <vt:variant>
        <vt:lpstr>Заголовки слайдов</vt:lpstr>
      </vt:variant>
      <vt:variant>
        <vt:i4>16</vt:i4>
      </vt:variant>
    </vt:vector>
  </HeadingPairs>
  <TitlesOfParts>
    <vt:vector size="27" baseType="lpstr">
      <vt:lpstr>Arial</vt:lpstr>
      <vt:lpstr>Calibri</vt:lpstr>
      <vt:lpstr>Century Schoolbook</vt:lpstr>
      <vt:lpstr>Wingdings 2</vt:lpstr>
      <vt:lpstr>View</vt:lpstr>
      <vt:lpstr>Office Theme</vt:lpstr>
      <vt:lpstr>1_Office Theme</vt:lpstr>
      <vt:lpstr>2_Office Theme</vt:lpstr>
      <vt:lpstr>3_Office Theme</vt:lpstr>
      <vt:lpstr>4_Office Theme</vt:lpstr>
      <vt:lpstr>5_Office Theme</vt:lpstr>
      <vt:lpstr>Разработка ПО для анализа абразии берегов Волгоградского водохранилища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Анализ точности прогнозирования береговой эрозии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ПО для анализа абразии берегов Волгоградского водохранилища</dc:title>
  <dc:creator>*</dc:creator>
  <cp:lastModifiedBy>*</cp:lastModifiedBy>
  <cp:revision>12</cp:revision>
  <dcterms:created xsi:type="dcterms:W3CDTF">2025-11-27T21:05:47Z</dcterms:created>
  <dcterms:modified xsi:type="dcterms:W3CDTF">2025-11-28T01:06:18Z</dcterms:modified>
</cp:coreProperties>
</file>